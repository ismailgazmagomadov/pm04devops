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d6d7eed89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d6d7eed89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d6d7eed8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d6d7eed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d6d7eed8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d6d7eed8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d6d7eed8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d6d7eed8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6d7eed8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6d7eed8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6d7eed8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d6d7eed8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6d7eed8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6d7eed8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ФГБОУ ВО «Глазовский государственный инженерно-педагогический университет имени В.Г. Короленко» 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Кафедра математики и информатики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Среднее профессиональное образование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ru" sz="1700"/>
              <a:t>ОТЧЕТ</a:t>
            </a:r>
            <a:endParaRPr b="1"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ru" sz="1700"/>
              <a:t>ПО УЧЕБНОЙ ПРАКТИК</a:t>
            </a:r>
            <a:r>
              <a:rPr b="1" lang="ru" sz="1500"/>
              <a:t>Е </a:t>
            </a:r>
            <a:endParaRPr b="1" sz="1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ru" sz="1300"/>
              <a:t>ПМ. 04 СОПРОВОЖДЕНИЕ И ОБСЛУЖИВАНИЕ ПРОГРАММНОГО ОБЕСПЕЧЕНИЯ КОМПЬЮТЕРНЫХ СИСТЕМ</a:t>
            </a:r>
            <a:endParaRPr b="1"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ru" sz="1300"/>
              <a:t>УП. 04 УЧЕБНАЯ ПРАКТИКА</a:t>
            </a:r>
            <a:endParaRPr b="1" sz="1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Специальность: 09.02.07 Информационные системы и программирование</a:t>
            </a:r>
            <a:endParaRPr sz="12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ru" sz="1200"/>
              <a:t>Даты прохождения: 22.11.2025 – 05.12.2025. </a:t>
            </a:r>
            <a:endParaRPr sz="1200"/>
          </a:p>
          <a:p>
            <a:pPr indent="0" lvl="0" marL="66816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988"/>
              <a:t>ФИО   Газмагомадов Исмаил Ахметович 			    </a:t>
            </a:r>
            <a:endParaRPr sz="988"/>
          </a:p>
          <a:p>
            <a:pPr indent="0" lvl="0" marL="66816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235"/>
              <a:buFont typeface="Arial"/>
              <a:buNone/>
            </a:pPr>
            <a:r>
              <a:rPr lang="ru" sz="988"/>
              <a:t>Гр.   Си132</a:t>
            </a:r>
            <a:endParaRPr sz="988"/>
          </a:p>
          <a:p>
            <a:pPr indent="-89999" lvl="0" marL="5317200" marR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11235"/>
              <a:buFont typeface="Arial"/>
              <a:buNone/>
            </a:pPr>
            <a:r>
              <a:rPr lang="ru" sz="988"/>
              <a:t>                                              Руководитель учебной практики </a:t>
            </a:r>
            <a:endParaRPr sz="988"/>
          </a:p>
          <a:p>
            <a:pPr indent="-89999" lvl="0" marL="5317200" marR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988"/>
              <a:t>                                              Касаткин К. А.</a:t>
            </a:r>
            <a:endParaRPr sz="988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2500"/>
              <a:t>Цель работы</a:t>
            </a:r>
            <a:r>
              <a:rPr lang="ru" sz="2500"/>
              <a:t> </a:t>
            </a:r>
            <a:endParaRPr sz="2500"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изучить процесс настройки и сопровождения программного обеспечения учебного стенда оператора беспилотных авиационных систем.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 В рамках цели предусматривались следующие задачи: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 – освоение прошивки аппаратуры управления;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 – настройка модели и каналов на контроллере;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 – подключение контроллера к симулятору;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</a:rPr>
              <a:t> – проверка работоспособности управления в программной среде LiftOff.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112000" y="498325"/>
            <a:ext cx="492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500"/>
              <a:t>Создание файла прошивки</a:t>
            </a:r>
            <a:endParaRPr sz="2500"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599550" y="1310275"/>
            <a:ext cx="8153700" cy="37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Для контроллера </a:t>
            </a:r>
            <a:r>
              <a:rPr b="1" lang="ru" sz="1400">
                <a:solidFill>
                  <a:schemeClr val="dk1"/>
                </a:solidFill>
              </a:rPr>
              <a:t>Jumper T12</a:t>
            </a:r>
            <a:r>
              <a:rPr lang="ru" sz="1400">
                <a:solidFill>
                  <a:schemeClr val="dk1"/>
                </a:solidFill>
              </a:rPr>
              <a:t> подготовлена программа </a:t>
            </a:r>
            <a:r>
              <a:rPr b="1" lang="ru" sz="1400">
                <a:solidFill>
                  <a:schemeClr val="dk1"/>
                </a:solidFill>
              </a:rPr>
              <a:t>OpenTX</a:t>
            </a:r>
            <a:r>
              <a:rPr lang="ru" sz="1400">
                <a:solidFill>
                  <a:schemeClr val="dk1"/>
                </a:solidFill>
              </a:rPr>
              <a:t> и загружен пакет </a:t>
            </a:r>
            <a:r>
              <a:rPr b="1" lang="ru" sz="1400">
                <a:solidFill>
                  <a:schemeClr val="dk1"/>
                </a:solidFill>
              </a:rPr>
              <a:t>CD Pack</a:t>
            </a:r>
            <a:r>
              <a:rPr lang="ru" sz="1400">
                <a:solidFill>
                  <a:schemeClr val="dk1"/>
                </a:solidFill>
              </a:rPr>
              <a:t>. С помощью этих инструментов был создан индивидуальный файл прошивки, учитывающий особенности конкретной аппаратуры.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950" y="2243076"/>
            <a:ext cx="4570875" cy="271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прошивки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672350"/>
            <a:ext cx="400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Контроллер </a:t>
            </a:r>
            <a:r>
              <a:rPr b="1" lang="ru" sz="1300">
                <a:solidFill>
                  <a:schemeClr val="dk1"/>
                </a:solidFill>
              </a:rPr>
              <a:t>Jumper T12</a:t>
            </a:r>
            <a:r>
              <a:rPr lang="ru" sz="1300">
                <a:solidFill>
                  <a:schemeClr val="dk1"/>
                </a:solidFill>
              </a:rPr>
              <a:t> был загружен в режим </a:t>
            </a:r>
            <a:r>
              <a:rPr b="1" lang="ru" sz="1300">
                <a:solidFill>
                  <a:schemeClr val="dk1"/>
                </a:solidFill>
              </a:rPr>
              <a:t>Bootloader</a:t>
            </a:r>
            <a:r>
              <a:rPr lang="ru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На SD-карту был скопирован подготовленный файл прошивки, после чего в меню контроллера выбрана опция обновления.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 rotWithShape="1">
          <a:blip r:embed="rId3">
            <a:alphaModFix/>
          </a:blip>
          <a:srcRect b="16165" l="21102" r="15602" t="51575"/>
          <a:stretch/>
        </p:blipFill>
        <p:spPr>
          <a:xfrm>
            <a:off x="5003575" y="1374842"/>
            <a:ext cx="3678100" cy="150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 rotWithShape="1">
          <a:blip r:embed="rId4">
            <a:alphaModFix/>
          </a:blip>
          <a:srcRect b="16607" l="14104" r="12203" t="48664"/>
          <a:stretch/>
        </p:blipFill>
        <p:spPr>
          <a:xfrm>
            <a:off x="5003575" y="3016216"/>
            <a:ext cx="3678100" cy="15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ru" sz="2750"/>
              <a:t>Подключение к симулятору LiftOff</a:t>
            </a:r>
            <a:endParaRPr sz="275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088400" y="1211100"/>
            <a:ext cx="696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Контроллер </a:t>
            </a:r>
            <a:r>
              <a:rPr b="1" lang="ru" sz="1400">
                <a:solidFill>
                  <a:schemeClr val="dk1"/>
                </a:solidFill>
              </a:rPr>
              <a:t>Jumper T12</a:t>
            </a:r>
            <a:r>
              <a:rPr lang="ru" sz="1400">
                <a:solidFill>
                  <a:schemeClr val="dk1"/>
                </a:solidFill>
              </a:rPr>
              <a:t> подключён к симулятору через USB. Выполнена первичная калибровка стиков и проверка всех каналов управления.</a:t>
            </a:r>
            <a:endParaRPr sz="1400"/>
          </a:p>
        </p:txBody>
      </p:sp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12579" l="0" r="0" t="0"/>
          <a:stretch/>
        </p:blipFill>
        <p:spPr>
          <a:xfrm>
            <a:off x="2799725" y="2078325"/>
            <a:ext cx="3544550" cy="26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36250" y="263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Настройка контроллера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36250" y="1065500"/>
            <a:ext cx="472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На контроллере </a:t>
            </a:r>
            <a:r>
              <a:rPr b="1" lang="ru" sz="1400">
                <a:solidFill>
                  <a:schemeClr val="dk1"/>
                </a:solidFill>
              </a:rPr>
              <a:t>Jumper T12</a:t>
            </a:r>
            <a:r>
              <a:rPr lang="ru" sz="1400">
                <a:solidFill>
                  <a:schemeClr val="dk1"/>
                </a:solidFill>
              </a:rPr>
              <a:t> была создана отдельная модель для корректной работы с симулятором</a:t>
            </a:r>
            <a:r>
              <a:rPr lang="ru" sz="1400">
                <a:solidFill>
                  <a:schemeClr val="dk1"/>
                </a:solidFill>
              </a:rPr>
              <a:t> </a:t>
            </a:r>
            <a:r>
              <a:rPr b="1" lang="ru" sz="1400">
                <a:solidFill>
                  <a:schemeClr val="dk1"/>
                </a:solidFill>
              </a:rPr>
              <a:t>LiftOff</a:t>
            </a:r>
            <a:r>
              <a:rPr lang="ru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 rotWithShape="1">
          <a:blip r:embed="rId3">
            <a:alphaModFix/>
          </a:blip>
          <a:srcRect b="1458" l="1926" r="4106" t="61044"/>
          <a:stretch/>
        </p:blipFill>
        <p:spPr>
          <a:xfrm>
            <a:off x="5448837" y="1109450"/>
            <a:ext cx="3636500" cy="1479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 rotWithShape="1">
          <a:blip r:embed="rId4">
            <a:alphaModFix/>
          </a:blip>
          <a:srcRect b="0" l="8377" r="10526" t="65216"/>
          <a:stretch/>
        </p:blipFill>
        <p:spPr>
          <a:xfrm>
            <a:off x="5448838" y="2722875"/>
            <a:ext cx="3695175" cy="144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настройки и тестирования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После настройки модели контроллера проведена проверка работы всех элементов управления в симуляторе </a:t>
            </a:r>
            <a:r>
              <a:rPr b="1" lang="ru" sz="1400">
                <a:solidFill>
                  <a:schemeClr val="dk1"/>
                </a:solidFill>
              </a:rPr>
              <a:t>LiftOff</a:t>
            </a:r>
            <a:r>
              <a:rPr lang="ru" sz="1400">
                <a:solidFill>
                  <a:schemeClr val="dk1"/>
                </a:solidFill>
              </a:rPr>
              <a:t>.Стики, кнопки и переключатели функционируют корректно, обеспечивая полноценное управление беспилотными авиационными системами.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 b="38108" l="21142" r="21714" t="12984"/>
          <a:stretch/>
        </p:blipFill>
        <p:spPr>
          <a:xfrm>
            <a:off x="1911938" y="2105175"/>
            <a:ext cx="5320126" cy="256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240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В ходе практической работы контроллер </a:t>
            </a:r>
            <a:r>
              <a:rPr b="1" lang="ru" sz="1400">
                <a:solidFill>
                  <a:schemeClr val="dk1"/>
                </a:solidFill>
              </a:rPr>
              <a:t>Jumper T12</a:t>
            </a:r>
            <a:r>
              <a:rPr lang="ru" sz="1400">
                <a:solidFill>
                  <a:schemeClr val="dk1"/>
                </a:solidFill>
              </a:rPr>
              <a:t> прошит и настроен для корректного взаимодействия с симулятором </a:t>
            </a:r>
            <a:r>
              <a:rPr b="1" lang="ru" sz="1400">
                <a:solidFill>
                  <a:schemeClr val="dk1"/>
                </a:solidFill>
              </a:rPr>
              <a:t>LiftOff</a:t>
            </a:r>
            <a:r>
              <a:rPr lang="ru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Была создана отдельная модель на контроллере, выполнена калибровка всех элементов управления, устранены ошибки распознавания кнопок и переключателей.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Симулятор полностью готов к тренировочным полётам, что обеспечивает реалистичное управление беспилотными авиационными системами.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Полученный опыт формирует практическую основу для дальнейшего освоения навыков настройки и сопровождения аппаратуры и программного обеспечения операторов беспилотных авиационных систем.</a:t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